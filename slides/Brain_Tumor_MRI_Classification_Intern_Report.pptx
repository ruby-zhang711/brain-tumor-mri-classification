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bd3a1da11e4456" /><Relationship Type="http://schemas.openxmlformats.org/officeDocument/2006/relationships/extended-properties" Target="/docProps/app.xml" Id="R6012c2ab5b83412e" /><Relationship Type="http://schemas.openxmlformats.org/officeDocument/2006/relationships/officeDocument" Target="/ppt/presentation.xml" Id="R404f4f62928a48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bad85a1f04ea5"/>
  </p:sldMasterIdLst>
  <p:notesMasterIdLst>
    <p:notesMasterId xmlns:r="http://schemas.openxmlformats.org/officeDocument/2006/relationships" r:id="R5e34390692294053"/>
  </p:notesMasterIdLst>
  <p:sldIdLst>
    <p:sldId xmlns:r="http://schemas.openxmlformats.org/officeDocument/2006/relationships" id="256" r:id="Rbd6302168fd342a9"/>
    <p:sldId xmlns:r="http://schemas.openxmlformats.org/officeDocument/2006/relationships" id="257" r:id="R5a4367d500504bc3"/>
    <p:sldId xmlns:r="http://schemas.openxmlformats.org/officeDocument/2006/relationships" id="258" r:id="Re1c1a7374bb84d43"/>
    <p:sldId xmlns:r="http://schemas.openxmlformats.org/officeDocument/2006/relationships" id="259" r:id="R9d5514455eea42e0"/>
    <p:sldId xmlns:r="http://schemas.openxmlformats.org/officeDocument/2006/relationships" id="260" r:id="R34496a32f6d74a9d"/>
    <p:sldId xmlns:r="http://schemas.openxmlformats.org/officeDocument/2006/relationships" id="261" r:id="R636dfeb5ced14c95"/>
    <p:sldId xmlns:r="http://schemas.openxmlformats.org/officeDocument/2006/relationships" id="262" r:id="Rd091013a4b334d5b"/>
    <p:sldId xmlns:r="http://schemas.openxmlformats.org/officeDocument/2006/relationships" id="263" r:id="R0d8a42d11db64b9d"/>
    <p:sldId xmlns:r="http://schemas.openxmlformats.org/officeDocument/2006/relationships" id="264" r:id="R5225852df5f74fcb"/>
    <p:sldId xmlns:r="http://schemas.openxmlformats.org/officeDocument/2006/relationships" id="265" r:id="R2c0deb7f0ac54ccc"/>
    <p:sldId xmlns:r="http://schemas.openxmlformats.org/officeDocument/2006/relationships" id="266" r:id="R5b66e021a4e9479f"/>
    <p:sldId xmlns:r="http://schemas.openxmlformats.org/officeDocument/2006/relationships" id="267" r:id="Rff39b2e4c5eb46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e81786777e4343" /><Relationship Type="http://schemas.openxmlformats.org/officeDocument/2006/relationships/slideMaster" Target="/ppt/slideMasters/slideMaster1.xml" Id="R8cebad85a1f04ea5" /><Relationship Type="http://schemas.openxmlformats.org/officeDocument/2006/relationships/notesMaster" Target="/ppt/notesMasters/notesMaster1.xml" Id="R5e34390692294053" /><Relationship Type="http://schemas.openxmlformats.org/officeDocument/2006/relationships/presProps" Target="/ppt/presProps.xml" Id="Re7e6e511c0a84e4e" /><Relationship Type="http://schemas.openxmlformats.org/officeDocument/2006/relationships/tableStyles" Target="/ppt/tableStyles.xml" Id="R1b243652864e478b" /><Relationship Type="http://schemas.openxmlformats.org/officeDocument/2006/relationships/slide" Target="/ppt/slides/slide1.xml" Id="Rbd6302168fd342a9" /><Relationship Type="http://schemas.openxmlformats.org/officeDocument/2006/relationships/slide" Target="/ppt/slides/slide2.xml" Id="R5a4367d500504bc3" /><Relationship Type="http://schemas.openxmlformats.org/officeDocument/2006/relationships/slide" Target="/ppt/slides/slide3.xml" Id="Re1c1a7374bb84d43" /><Relationship Type="http://schemas.openxmlformats.org/officeDocument/2006/relationships/slide" Target="/ppt/slides/slide4.xml" Id="R9d5514455eea42e0" /><Relationship Type="http://schemas.openxmlformats.org/officeDocument/2006/relationships/slide" Target="/ppt/slides/slide5.xml" Id="R34496a32f6d74a9d" /><Relationship Type="http://schemas.openxmlformats.org/officeDocument/2006/relationships/slide" Target="/ppt/slides/slide6.xml" Id="R636dfeb5ced14c95" /><Relationship Type="http://schemas.openxmlformats.org/officeDocument/2006/relationships/slide" Target="/ppt/slides/slide7.xml" Id="Rd091013a4b334d5b" /><Relationship Type="http://schemas.openxmlformats.org/officeDocument/2006/relationships/slide" Target="/ppt/slides/slide8.xml" Id="R0d8a42d11db64b9d" /><Relationship Type="http://schemas.openxmlformats.org/officeDocument/2006/relationships/slide" Target="/ppt/slides/slide9.xml" Id="R5225852df5f74fcb" /><Relationship Type="http://schemas.openxmlformats.org/officeDocument/2006/relationships/slide" Target="/ppt/slides/slide10.xml" Id="R2c0deb7f0ac54ccc" /><Relationship Type="http://schemas.openxmlformats.org/officeDocument/2006/relationships/slide" Target="/ppt/slides/slide11.xml" Id="R5b66e021a4e9479f" /><Relationship Type="http://schemas.openxmlformats.org/officeDocument/2006/relationships/slide" Target="/ppt/slides/slide12.xml" Id="Rff39b2e4c5eb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1addca7a0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6971692764935" /><Relationship Type="http://schemas.openxmlformats.org/officeDocument/2006/relationships/notesMaster" Target="/ppt/notesMasters/notesMaster1.xml" Id="Rf3a1bb65899b42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98a9bfa90748e0" /><Relationship Type="http://schemas.openxmlformats.org/officeDocument/2006/relationships/notesMaster" Target="/ppt/notesMasters/notesMaster1.xml" Id="R2473c80d24d541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b4a8a97f34d5d" /><Relationship Type="http://schemas.openxmlformats.org/officeDocument/2006/relationships/notesMaster" Target="/ppt/notesMasters/notesMaster1.xml" Id="Rb2b00ed97d66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230056c824059" /><Relationship Type="http://schemas.openxmlformats.org/officeDocument/2006/relationships/notesMaster" Target="/ppt/notesMasters/notesMaster1.xml" Id="R99767bb21b7b47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fed7153f894604" /><Relationship Type="http://schemas.openxmlformats.org/officeDocument/2006/relationships/notesMaster" Target="/ppt/notesMasters/notesMaster1.xml" Id="R709715ff9f43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05b6a03414935" /><Relationship Type="http://schemas.openxmlformats.org/officeDocument/2006/relationships/notesMaster" Target="/ppt/notesMasters/notesMaster1.xml" Id="R9c89a505e07e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731b3066114693" /><Relationship Type="http://schemas.openxmlformats.org/officeDocument/2006/relationships/notesMaster" Target="/ppt/notesMasters/notesMaster1.xml" Id="Ra716b7101f5347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75577baabc4c6d" /><Relationship Type="http://schemas.openxmlformats.org/officeDocument/2006/relationships/notesMaster" Target="/ppt/notesMasters/notesMaster1.xml" Id="Rab6dc3f5fdf649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d1de3a0eb24fbc" /><Relationship Type="http://schemas.openxmlformats.org/officeDocument/2006/relationships/notesMaster" Target="/ppt/notesMasters/notesMaster1.xml" Id="R34e78e20bfbc41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ff56c51922413e" /><Relationship Type="http://schemas.openxmlformats.org/officeDocument/2006/relationships/notesMaster" Target="/ppt/notesMasters/notesMaster1.xml" Id="R2cf6b3cb6ac54c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2c72d84d6c49c0" /><Relationship Type="http://schemas.openxmlformats.org/officeDocument/2006/relationships/notesMaster" Target="/ppt/notesMasters/notesMaster1.xml" Id="R99380e791d5c43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01004fb3614a3d" /><Relationship Type="http://schemas.openxmlformats.org/officeDocument/2006/relationships/notesMaster" Target="/ppt/notesMasters/notesMaster1.xml" Id="Rf00764bbeac745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5250ed2904f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38c218ce9d4f66" /><Relationship Type="http://schemas.openxmlformats.org/officeDocument/2006/relationships/slideLayout" Target="/ppt/slideLayouts/slideLayout1.xml" Id="Re517daa51db747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7daa51db747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cde3c51bc4cc6" /><Relationship Type="http://schemas.openxmlformats.org/officeDocument/2006/relationships/notesSlide" Target="/ppt/notesSlides/notesSlide1.xml" Id="R88de8cf960dd4c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b67b6fcbf40d0" /><Relationship Type="http://schemas.openxmlformats.org/officeDocument/2006/relationships/notesSlide" Target="/ppt/notesSlides/notesSlide2.xml" Id="Rf9fddba25a83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ccabe7a7b455e" /><Relationship Type="http://schemas.openxmlformats.org/officeDocument/2006/relationships/notesSlide" Target="/ppt/notesSlides/notesSlide3.xml" Id="R1c626cf26330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f0bb1511b4212" /><Relationship Type="http://schemas.openxmlformats.org/officeDocument/2006/relationships/notesSlide" Target="/ppt/notesSlides/notesSlide4.xml" Id="R5106dcd63d5649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fe00d2084426b" /><Relationship Type="http://schemas.openxmlformats.org/officeDocument/2006/relationships/notesSlide" Target="/ppt/notesSlides/notesSlide5.xml" Id="R16992b5c543a48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d9af47a064d4d" /><Relationship Type="http://schemas.openxmlformats.org/officeDocument/2006/relationships/chart" Target="/ppt/slides/charts/chart1.xml" Id="R8eadfcb77091414a" /><Relationship Type="http://schemas.openxmlformats.org/officeDocument/2006/relationships/notesSlide" Target="/ppt/notesSlides/notesSlide6.xml" Id="Rf1b42da32e6641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ebe947f146dc" /><Relationship Type="http://schemas.openxmlformats.org/officeDocument/2006/relationships/notesSlide" Target="/ppt/notesSlides/notesSlide7.xml" Id="Rf9ec480985d343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83d4eb1ea4ce3" /><Relationship Type="http://schemas.openxmlformats.org/officeDocument/2006/relationships/notesSlide" Target="/ppt/notesSlides/notesSlide8.xml" Id="Ree7341f9a5194f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1718106444cd0" /><Relationship Type="http://schemas.openxmlformats.org/officeDocument/2006/relationships/notesSlide" Target="/ppt/notesSlides/notesSlide9.xml" Id="R9fa8b486888f4e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3393148774a8d" /><Relationship Type="http://schemas.openxmlformats.org/officeDocument/2006/relationships/chart" Target="/ppt/slides/charts/chart2.xml" Id="Rf1efde414b45470d" /><Relationship Type="http://schemas.openxmlformats.org/officeDocument/2006/relationships/chart" Target="/ppt/slides/charts/chart3.xml" Id="Red742b708d7c4a40" /><Relationship Type="http://schemas.openxmlformats.org/officeDocument/2006/relationships/notesSlide" Target="/ppt/notesSlides/notesSlide10.xml" Id="R4dc9b72f9b2445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ff2109c554ca7" /><Relationship Type="http://schemas.openxmlformats.org/officeDocument/2006/relationships/notesSlide" Target="/ppt/notesSlides/notesSlide11.xml" Id="Rd10fdcb1889949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9e284231945cd" /><Relationship Type="http://schemas.openxmlformats.org/officeDocument/2006/relationships/notesSlide" Target="/ppt/notesSlides/notesSlide12.xml" Id="Rbd0c023e63474f6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YES</c:v>
          </c:tx>
          <c:spPr>
            <a:solidFill xmlns:a="http://schemas.openxmlformats.org/drawingml/2006/main">
              <a:srgbClr val="0070C0"/>
            </a:solidFill>
          </c:spPr>
          <c:cat>
            <c:strLit>
              <c:ptCount val="3"/>
              <c:pt idx="0">
                <c:v>Train</c:v>
              </c:pt>
              <c:pt idx="1">
                <c:v>Val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70</c:v>
              </c:pt>
              <c:pt idx="1">
                <c:v>15</c:v>
              </c:pt>
              <c:pt idx="2">
                <c:v>15</c:v>
              </c:pt>
            </c:numLit>
          </c:val>
        </c:ser>
        <c:ser>
          <c:idx val="1"/>
          <c:order val="1"/>
          <c:tx>
            <c:v>NO</c:v>
          </c:tx>
          <c:spPr>
            <a:solidFill xmlns:a="http://schemas.openxmlformats.org/drawingml/2006/main">
              <a:srgbClr val="B26A00"/>
            </a:solidFill>
          </c:spPr>
          <c:cat>
            <c:strLit>
              <c:ptCount val="3"/>
              <c:pt idx="0">
                <c:v>Train</c:v>
              </c:pt>
              <c:pt idx="1">
                <c:v>Val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70</c:v>
              </c:pt>
              <c:pt idx="1">
                <c:v>15</c:v>
              </c:pt>
              <c:pt idx="2">
                <c:v>15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train loss</c:v>
          </c:tx>
          <c:spPr>
            <a:solidFill xmlns:a="http://schemas.openxmlformats.org/drawingml/2006/main">
              <a:srgbClr val="0070C0"/>
            </a:solidFill>
          </c:spPr>
          <c:marker>
            <c:symbol val="none"/>
          </c:marker>
          <c:cat>
            <c:strLit>
              <c:ptCount val="3"/>
              <c:pt idx="0">
                <c:v>Epoch 1</c:v>
              </c:pt>
              <c:pt idx="1">
                <c:v>Epoch 2</c:v>
              </c:pt>
              <c:pt idx="2">
                <c:v>Epoch 3</c:v>
              </c:pt>
            </c:strLit>
          </c:cat>
          <c:val>
            <c:numLit>
              <c:formatCode>General</c:formatCode>
              <c:ptCount val="3"/>
              <c:pt idx="0">
                <c:v>0.68</c:v>
              </c:pt>
              <c:pt idx="1">
                <c:v>0.48</c:v>
              </c:pt>
              <c:pt idx="2">
                <c:v>0.35</c:v>
              </c:pt>
            </c:numLit>
          </c:val>
        </c:ser>
        <c:ser>
          <c:idx val="1"/>
          <c:order val="1"/>
          <c:tx>
            <c:v>val loss</c:v>
          </c:tx>
          <c:spPr>
            <a:solidFill xmlns:a="http://schemas.openxmlformats.org/drawingml/2006/main">
              <a:srgbClr val="B26A00"/>
            </a:solidFill>
          </c:spPr>
          <c:marker>
            <c:symbol val="none"/>
          </c:marker>
          <c:cat>
            <c:strLit>
              <c:ptCount val="3"/>
              <c:pt idx="0">
                <c:v>Epoch 1</c:v>
              </c:pt>
              <c:pt idx="1">
                <c:v>Epoch 2</c:v>
              </c:pt>
              <c:pt idx="2">
                <c:v>Epoch 3</c:v>
              </c:pt>
            </c:strLit>
          </c:cat>
          <c:val>
            <c:numLit>
              <c:formatCode>General</c:formatCode>
              <c:ptCount val="3"/>
              <c:pt idx="0">
                <c:v>0.7</c:v>
              </c:pt>
              <c:pt idx="1">
                <c:v>0.55</c:v>
              </c:pt>
              <c:pt idx="2">
                <c:v>0.46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train acc</c:v>
          </c:tx>
          <c:spPr>
            <a:solidFill xmlns:a="http://schemas.openxmlformats.org/drawingml/2006/main">
              <a:srgbClr val="2E7D32"/>
            </a:solidFill>
          </c:spPr>
          <c:marker>
            <c:symbol val="none"/>
          </c:marker>
          <c:cat>
            <c:strLit>
              <c:ptCount val="3"/>
              <c:pt idx="0">
                <c:v>Epoch 1</c:v>
              </c:pt>
              <c:pt idx="1">
                <c:v>Epoch 2</c:v>
              </c:pt>
              <c:pt idx="2">
                <c:v>Epoch 3</c:v>
              </c:pt>
            </c:strLit>
          </c:cat>
          <c:val>
            <c:numLit>
              <c:formatCode>General</c:formatCode>
              <c:ptCount val="3"/>
              <c:pt idx="0">
                <c:v>0.62</c:v>
              </c:pt>
              <c:pt idx="1">
                <c:v>0.78</c:v>
              </c:pt>
              <c:pt idx="2">
                <c:v>0.86</c:v>
              </c:pt>
            </c:numLit>
          </c:val>
        </c:ser>
        <c:ser>
          <c:idx val="1"/>
          <c:order val="1"/>
          <c:tx>
            <c:v>val acc</c:v>
          </c:tx>
          <c:spPr>
            <a:solidFill xmlns:a="http://schemas.openxmlformats.org/drawingml/2006/main">
              <a:srgbClr val="A33A3A"/>
            </a:solidFill>
          </c:spPr>
          <c:marker>
            <c:symbol val="none"/>
          </c:marker>
          <c:cat>
            <c:strLit>
              <c:ptCount val="3"/>
              <c:pt idx="0">
                <c:v>Epoch 1</c:v>
              </c:pt>
              <c:pt idx="1">
                <c:v>Epoch 2</c:v>
              </c:pt>
              <c:pt idx="2">
                <c:v>Epoch 3</c:v>
              </c:pt>
            </c:strLit>
          </c:cat>
          <c:val>
            <c:numLit>
              <c:formatCode>General</c:formatCode>
              <c:ptCount val="3"/>
              <c:pt idx="0">
                <c:v>0.58</c:v>
              </c:pt>
              <c:pt idx="1">
                <c:v>0.72</c:v>
              </c:pt>
              <c:pt idx="2">
                <c:v>0.8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4D73-ED9D-468F-9F6F-C5E97DDB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脑瘤 MRI 图像分类项目汇报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525A3-89CB-4956-A579-90E6370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56C"/>
                </a:solidFill>
              </a:defRPr>
            </a:pPr>
            <a:r>
              <a:rPr sz="1800" b="0">
                <a:solidFill>
                  <a:srgbClr val="45556C"/>
                </a:solidFill>
              </a:rPr>
              <a:t>基于 ResNet18 迁移学习的 YES / NO 二分类实验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7C309-C8B0-4019-8C4E-E41025D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8191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F6D42-DE45-41C9-A8AF-D3A7690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汇报角度：实习期间完成的数据处理、模型训练和结果展示流程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核心目标：判断 MRI 图片是否存在脑瘤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当前版本：保留柱状图、训练曲线和预测结果展示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70D18-A74B-4C66-8EA1-C7092E5F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1</a:t>
            </a:r>
          </a:p>
        </p:txBody>
      </p:sp>
    </p:spTree>
    <p:extLst>
      <p:ext uri="{BB962C8B-B14F-4D97-AF65-F5344CB8AC3E}">
        <p14:creationId xmlns:p14="http://schemas.microsoft.com/office/powerpoint/2010/main" val="911969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6B005-EDF4-49EB-8707-64CA4D6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项目要解决的问题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19FD7-BE8F-4C8B-B007-45A07165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把 MRI 图片转换成一个可训练、可评估的二分类任务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04606-2E18-472C-AE27-20819F2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9F17B-7B25-4CE6-AB59-7B7B88B0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92F0D-30CE-4096-885C-354B9CB8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0C0"/>
                </a:solidFill>
              </a:defRPr>
            </a:pPr>
            <a:r>
              <a:rPr sz="1950" b="1">
                <a:solidFill>
                  <a:srgbClr val="0070C0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23512-9BE9-4B90-AABD-39743FAC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脑部 MRI 图像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数据按文件夹分成 yes 和 no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图片尺寸和格式不完全统一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642D4-FDEE-428C-B06D-7FB0B1E0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59C51-F3CF-4CDF-A31E-A85AB70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F3F99-F45A-4C86-A28E-488F406E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YES：判断为有脑瘤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NO：判断为无脑瘤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• 用准确率和预测示例展示效果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EAC90-F9D0-4141-8FC8-6353E1B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我的理解：这个项目不是直接做医学诊断，而是完成一个教学型图像分类流程。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42763-6498-4840-96C9-104F4BC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2</a:t>
            </a:r>
          </a:p>
        </p:txBody>
      </p:sp>
    </p:spTree>
    <p:extLst>
      <p:ext uri="{BB962C8B-B14F-4D97-AF65-F5344CB8AC3E}">
        <p14:creationId xmlns:p14="http://schemas.microsoft.com/office/powerpoint/2010/main" val="1331102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63F85-6C15-4511-84B2-4806C35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整体流程先跑通，再解释每一步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D5E3A-F6A6-49BC-A382-5F6F24B3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我把 notebook 整理成了 16 个更容易讲清楚的步骤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9239D-57B7-472C-B653-89690434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198C5-0AB1-40D5-BB73-D1D9F07E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5F3AE-A20D-4504-B081-10298DF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7CEC2-7D9D-408F-ACF2-268F7B6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下载与检查数据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6C3C1-CAA2-4D3C-B4A8-2D018EA6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2274B-0912-40EF-9DA8-827A7580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72DF3-DC7D-431E-8261-853777B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数据增强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5E100-640E-4BCF-A97F-246F0F8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E8E62-3DB8-4ABA-B8BF-46675DE5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9D0B2-9C1D-40FA-BDAA-6AE9BC4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划分数据集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B0E15-9247-4B03-8DDA-659D438D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B146C-F705-4D77-815E-DC931C0D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DCB81-6B43-4CB8-85C1-CB8C299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加载与预处理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7AD18-A69B-450A-8033-9F3BCBDD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5AE46-2C74-445D-A4F3-37827E7B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4FB24-E92A-486C-88A4-B17F9B0C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构建 ResNet18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7B102-8F59-4464-9F8C-9A80B0E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10129-2F9C-414A-BEC0-F937C7A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336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48600-4AF5-442D-A71A-A9A392A0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05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训练与展示结果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3D02D-7D86-4A4A-A968-4CFE80C2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545"/>
                </a:solidFill>
              </a:defRPr>
            </a:pPr>
            <a:r>
              <a:rPr sz="1800" b="0">
                <a:solidFill>
                  <a:srgbClr val="0B2545"/>
                </a:solidFill>
              </a:rPr>
              <a:t>汇报主线：先说明数据从哪里来，再说明如何变成模型能学习的格式，最后展示训练和预测结果。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FBABD-28AC-4050-8EC2-F26FFA05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3</a:t>
            </a:r>
          </a:p>
        </p:txBody>
      </p:sp>
    </p:spTree>
    <p:extLst>
      <p:ext uri="{BB962C8B-B14F-4D97-AF65-F5344CB8AC3E}">
        <p14:creationId xmlns:p14="http://schemas.microsoft.com/office/powerpoint/2010/main" val="1266971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46AA6-ABCB-455C-909C-C01CBD14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数据准备阶段主要防止路径和格式出错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F9574-554E-4513-A642-0AC71E9F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这一部分看起来基础，但能避免后面连续出现 not defined 或找不到文件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DB394-E8BB-4698-A676-21992016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322D0-F555-45B8-B34F-003A9034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7D6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7634-4122-4FB0-956D-859EC1D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环境准备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AF460-2071-4BF9-9407-700E9CB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检查缺少的包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通过 pip install 补齐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下载 Kaggle 数据集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36B62-47E2-43A3-9394-4B105ABA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EEC7C-4FBD-4578-BDA2-EF58D304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数据检查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6C02C-3415-42FC-B700-EA77FAA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确认 DATA_DIR 正确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必须有 yes / no 文件夹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统计每类图片数量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40FCB-3B6F-428B-8D95-DC6F41A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F667B-8C5A-423C-9A93-B51164B1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我的收获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8A19B-8843-461F-8D1D-0CBAF435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路径是最容易错的地方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先检查再训练更稳</a:t>
            </a:r>
          </a:p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• 错误要从前往后排查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3E4F1-6D7C-4EEE-B802-FC90749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4</a:t>
            </a:r>
          </a:p>
        </p:txBody>
      </p:sp>
    </p:spTree>
    <p:extLst>
      <p:ext uri="{BB962C8B-B14F-4D97-AF65-F5344CB8AC3E}">
        <p14:creationId xmlns:p14="http://schemas.microsoft.com/office/powerpoint/2010/main" val="204894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38055-B9C5-4DAF-A57F-3E97503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数据增强用于缓解样本量偏少的问题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A576-AA41-4AB8-A55B-CBC4DF5C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每张原图生成若干张轻微变化后的图片，但标签不变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98B9B-FBBF-45F3-A4C9-A54C4149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C3A84-EFC2-402F-88D2-B3CD55D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99CCD-CB5C-4ABE-ACE4-067678C5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0C0"/>
                </a:solidFill>
              </a:defRPr>
            </a:pPr>
            <a:r>
              <a:rPr sz="2100" b="1">
                <a:solidFill>
                  <a:srgbClr val="0070C0"/>
                </a:solidFill>
              </a:rPr>
              <a:t>增强方式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C3E85-D199-42F5-BD1B-79779F60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RandomRotation：轻微旋转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RandomAffine：轻微平移、缩放、错切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RandomHorizontalFlip：随机水平翻转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N_AUG_PER_IMAGE = 6：每张原图生成 6 张增强图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D2008-AE22-4B1E-9DD3-8898D80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7D6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6C9CB-18AE-401D-B814-750F227D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汇报解释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287EB-E239-4309-AC74-E10063A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数据增强不是改变医学结论，而是让模型看到同一类别图片在角度、位置上的合理变化。这样模型更不容易只记住原图。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34A9C-CC77-4428-B823-054D772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5</a:t>
            </a:r>
          </a:p>
        </p:txBody>
      </p:sp>
    </p:spTree>
    <p:extLst>
      <p:ext uri="{BB962C8B-B14F-4D97-AF65-F5344CB8AC3E}">
        <p14:creationId xmlns:p14="http://schemas.microsoft.com/office/powerpoint/2010/main" val="749085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BD220-5D5A-4BDD-B0C7-73BBE54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训练前必须把数据拆成三份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81F5E-8429-4C05-8FFC-6F84973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Train 负责学习，Val 负责观察，Test 负责最终检验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5F5E8-4771-4A5B-9D90-D025B822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933450" y="209550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adfcb7709141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8E2E4-9926-49FC-B9BA-020498B2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95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D840E-2A40-445B-A6CE-216BA02E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这张柱状图在汇报里说明什么？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38385-AC19-4A7B-933A-F1BCD6A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每个集合里两类样本都有覆盖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能检查划分后是否严重不平衡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如果类别差距太大，模型可能偏向数量多的一类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71948-B426-42AA-A3F7-D0C8D531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6</a:t>
            </a:r>
          </a:p>
        </p:txBody>
      </p:sp>
    </p:spTree>
    <p:extLst>
      <p:ext uri="{BB962C8B-B14F-4D97-AF65-F5344CB8AC3E}">
        <p14:creationId xmlns:p14="http://schemas.microsoft.com/office/powerpoint/2010/main" val="1948878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F77D3-8824-4EF2-8410-0587BF96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图片加载后会统一变成模型能读的数字格式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C90BA-A4C6-4DB3-BA1C-31EFDCC7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文件夹里的图片变成 X，文件夹名字 YES/NO 变成 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FA518-9E86-4416-91A7-9EEFF63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06D8E-0DA2-4B13-A1AE-2C57752D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14A1E-81DB-49F3-B269-A13B993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0C0"/>
                </a:solidFill>
              </a:defRPr>
            </a:pPr>
            <a:r>
              <a:rPr sz="1950" b="1">
                <a:solidFill>
                  <a:srgbClr val="0070C0"/>
                </a:solidFill>
              </a:rPr>
              <a:t>文件夹图片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F6956-40D0-467A-A6DA-43F7FDF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TRAIN/YES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TRAIN/NO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VAL/YES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VAL/NO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C22A0-915C-48A6-A8A1-D0C15292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7D6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868E5-7946-42C1-8B0F-E297B08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Python 数组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41D92-AAC2-409B-B46F-1FB048B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X：图片矩阵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y：数字标签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labels：类别字典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0B201-2603-4530-98CC-8EC872B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9725-0C25-40AE-81C7-F19F929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模型输入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B8D67-BDAA-4210-B643-B2CE43A3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224 × 224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RGB 三通道</a:t>
            </a:r>
          </a:p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Tensor 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377B7-22DF-4B0C-B1D7-04591B02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这一步的核心意义：深度学习模型不能直接理解 jpg 文件，它只能处理数字矩阵。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24077-35F3-41C2-9BD5-F6E2C3D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7</a:t>
            </a:r>
          </a:p>
        </p:txBody>
      </p:sp>
    </p:spTree>
    <p:extLst>
      <p:ext uri="{BB962C8B-B14F-4D97-AF65-F5344CB8AC3E}">
        <p14:creationId xmlns:p14="http://schemas.microsoft.com/office/powerpoint/2010/main" val="687224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E3494-3164-4152-987B-DD063622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我使用 ResNet18 做迁移学习，而不是从零训练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65B98-B249-49BB-9EB2-DC5DBFC6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预训练模型降低了小数据集训练难度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269FC-0BA9-4186-9BE8-76D6BD3B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9571C-0142-4446-9044-3EB0D56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9A064-A6D0-474D-B5E6-731A9354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0C0"/>
                </a:solidFill>
              </a:defRPr>
            </a:pPr>
            <a:r>
              <a:rPr sz="1950" b="1">
                <a:solidFill>
                  <a:srgbClr val="0070C0"/>
                </a:solidFill>
              </a:rPr>
              <a:t>ImageNet 和 ResNet 的关系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79CE4-9738-4114-8BE1-EA72D2FB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ImageNet：大规模图片数据集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ResNet18：一种 CNN 模型结构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预训练 ResNet18：已经在 ImageNet 上学过通用图像特征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CFE82-44A1-45D4-AF0E-3B6E923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7D6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94029-5CB3-41A2-BAAC-B4AC51F5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本项目怎么改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B0FAB-A96B-4312-B1E9-131C9897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• 冻结大部分 ResNet 参数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• 替换最后一层 fc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• 输出类别改成 YES / NO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• 输入用 ImageNet mean/std 标准化</a:t>
            </a:r>
          </a:p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• 只训练最后的分类层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C1CCE-FAB5-45D3-976D-D12D7CD3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8</a:t>
            </a:r>
          </a:p>
        </p:txBody>
      </p:sp>
    </p:spTree>
    <p:extLst>
      <p:ext uri="{BB962C8B-B14F-4D97-AF65-F5344CB8AC3E}">
        <p14:creationId xmlns:p14="http://schemas.microsoft.com/office/powerpoint/2010/main" val="1861986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0B0C0-8DE9-4A65-94D1-BE569AF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训练过程本质上是不断减少预测错误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FC37E-68A6-48D4-B929-01E6574F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每一轮都包含训练和验证两个阶段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9673-E0AE-4F69-99C6-664A249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AAEFA-EA0E-4E79-A5A4-BE995C1C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E0DC7-0742-4FDA-9DA0-AC49119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0C0"/>
                </a:solidFill>
              </a:defRPr>
            </a:pPr>
            <a:r>
              <a:rPr sz="1725" b="1">
                <a:solidFill>
                  <a:srgbClr val="0070C0"/>
                </a:solidFill>
              </a:rPr>
              <a:t>前向预测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1C63-BCCE-4C75-8A4A-891D742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图片输入模型，得到 YES/NO 分数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DD9C9-3C90-4B56-A3D8-CB6400E9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90226-FC65-49E9-A341-09097273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0C0"/>
                </a:solidFill>
              </a:defRPr>
            </a:pPr>
            <a:r>
              <a:rPr sz="1725" b="1">
                <a:solidFill>
                  <a:srgbClr val="0070C0"/>
                </a:solidFill>
              </a:rPr>
              <a:t>计算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176E2-EE37-4CDB-A97B-68F5EDBD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比较预测和真实标签，得到错误大小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7236D-E66B-449C-B66E-A0E1CE5A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2D819-156E-4E6B-BE2B-FFB9655C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0C0"/>
                </a:solidFill>
              </a:defRPr>
            </a:pPr>
            <a:r>
              <a:rPr sz="1725" b="1">
                <a:solidFill>
                  <a:srgbClr val="0070C0"/>
                </a:solidFill>
              </a:rPr>
              <a:t>反向传播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DCEE5-EA1A-4C13-AC1B-E217C1B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计算参数应该往哪个方向调整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95543-55C8-4668-AC7D-DEFB2A29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61C1F-648F-4747-B282-2A2FF32D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0C0"/>
                </a:solidFill>
              </a:defRPr>
            </a:pPr>
            <a:r>
              <a:rPr sz="1725" b="1">
                <a:solidFill>
                  <a:srgbClr val="0070C0"/>
                </a:solidFill>
              </a:rPr>
              <a:t>更新参数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E935A-646A-4B86-8671-90FE1287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优化器根据梯度修改模型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9C365-6720-45B6-A24A-D455B54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66869-0A1F-4ABB-B66C-014EE6D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0C0"/>
                </a:solidFill>
              </a:defRPr>
            </a:pPr>
            <a:r>
              <a:rPr sz="1725" b="1">
                <a:solidFill>
                  <a:srgbClr val="0070C0"/>
                </a:solidFill>
              </a:rPr>
              <a:t>验证评估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F2D76-5EE6-4549-9114-D79613F2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76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不更新参数，只观察模型效果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87D78-6CF2-4E23-91D2-BF770F7A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9</a:t>
            </a:r>
          </a:p>
        </p:txBody>
      </p:sp>
    </p:spTree>
    <p:extLst>
      <p:ext uri="{BB962C8B-B14F-4D97-AF65-F5344CB8AC3E}">
        <p14:creationId xmlns:p14="http://schemas.microsoft.com/office/powerpoint/2010/main" val="1367082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7C0E3-CD59-45F3-8439-254C214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训练曲线用来判断模型有没有在学习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911BE-BFB6-47C4-8CFE-958A38E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重点看 loss 是否下降、accuracy 是否上升、train 和 val 差距是否过大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DD372-C986-4255-B0FB-98E4D838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57250" y="2076450"/>
          <a:ext xmlns:a="http://schemas.openxmlformats.org/drawingml/2006/main" cx="4762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efde414b45470d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572250" y="2076450"/>
          <a:ext xmlns:a="http://schemas.openxmlformats.org/drawingml/2006/main" cx="4762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742b708d7c4a4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6B74B-1AC5-4A93-B3CA-F9FA743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说明：PPT 中的曲线是汇报示意，正式展示时以 Colab 实际运行曲线为准。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07828-2A42-45B1-87A8-F34F055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10</a:t>
            </a:r>
          </a:p>
        </p:txBody>
      </p:sp>
    </p:spTree>
    <p:extLst>
      <p:ext uri="{BB962C8B-B14F-4D97-AF65-F5344CB8AC3E}">
        <p14:creationId xmlns:p14="http://schemas.microsoft.com/office/powerpoint/2010/main" val="1237604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85DEB-7E8E-4E07-9C8C-46AABB4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预测结果展示让模型效果更直观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527A-02FE-4A28-A7D9-50EC1B14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除了准确率数字，还要看模型在具体 MRI 图片上的判断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DD565-664A-4965-A9C1-FC4016C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34817-EA06-45F9-A7C7-DB157880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E0F7D-CA45-470F-9930-7668FE4B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0C0"/>
                </a:solidFill>
              </a:defRPr>
            </a:pPr>
            <a:r>
              <a:rPr sz="1725" b="1">
                <a:solidFill>
                  <a:srgbClr val="0070C0"/>
                </a:solidFill>
              </a:rPr>
              <a:t>Validation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089BD-0896-4E15-9180-6B5A7D3B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5556C"/>
                </a:solidFill>
              </a:defRPr>
            </a:pPr>
            <a:r>
              <a:rPr sz="2400" b="1">
                <a:solidFill>
                  <a:srgbClr val="45556C"/>
                </a:solidFill>
              </a:rPr>
              <a:t>MRI 图片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CBD5-E158-4BBC-BB70-C60FEE0D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7D6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D9E80-61D6-4407-A523-0BA1EE4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Model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04E7C-570D-4617-B2C7-EEEA4136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545"/>
                </a:solidFill>
              </a:defRPr>
            </a:pPr>
            <a:r>
              <a:rPr sz="2400" b="1">
                <a:solidFill>
                  <a:srgbClr val="0B2545"/>
                </a:solidFill>
              </a:rPr>
              <a:t>YES / 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76D89-F236-4162-85D4-0A1D4B61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952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62C24-C23A-43E3-87A0-C11AF65E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32"/>
                </a:solidFill>
              </a:defRPr>
            </a:pPr>
            <a:r>
              <a:rPr sz="1725" b="1">
                <a:solidFill>
                  <a:srgbClr val="2E7D32"/>
                </a:solidFill>
              </a:rPr>
              <a:t>Human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B2BAF-6BE9-487E-AD00-7D7BBCB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看预测是否合理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68BB0-DFD5-496F-8089-AFD40D4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我保留这一步，是因为领导或同学看图会比只看 accuracy 更容易理解模型做了什么。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B71D1-A1B7-48D8-B16F-7FFF40C9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11</a:t>
            </a:r>
          </a:p>
        </p:txBody>
      </p:sp>
    </p:spTree>
    <p:extLst>
      <p:ext uri="{BB962C8B-B14F-4D97-AF65-F5344CB8AC3E}">
        <p14:creationId xmlns:p14="http://schemas.microsoft.com/office/powerpoint/2010/main" val="884558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71466-3B87-4B4D-9D5F-DF0443BF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当前版本已经适合教学汇报，后续还可以继续扩展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08BDA-6A00-48E4-9CC2-96BD8041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我这次优先保证流程清楚、代码能解释、结果能展示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FF1D3-1422-4548-B8DC-3F00F33F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AD84C-93E1-4E38-B276-70F22E5F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30137-4E57-4DDF-8C3E-80B32AA0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</a:defRPr>
            </a:pPr>
            <a:r>
              <a:rPr sz="2100" b="1">
                <a:solidFill>
                  <a:srgbClr val="2E7D32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3BC7F-3E8A-46B4-9277-77ABD45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数据下载和路径检查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数据增强与数据划分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ResNet18 迁移学习训练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柱状图、训练曲线、预测结果展示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40DBC-080D-4FFF-A2A4-FE302343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7D6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2FB2D-EE0B-4415-9310-332E0B47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79528-4C52-41FC-87E8-A94EE46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增加训练轮数并记录最终测试准确率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尝试解冻 ResNet 后几层做微调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加入混淆矩阵、Precision、Recall</a:t>
            </a:r>
          </a:p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补充更多医学数据验证泛化能力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0910C-9EF2-4488-A955-AF97173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0A1B9"/>
                </a:solidFill>
              </a:defRPr>
            </a:pPr>
            <a:r>
              <a:rPr sz="900" b="0">
                <a:solidFill>
                  <a:srgbClr val="90A1B9"/>
                </a:solidFill>
              </a:rPr>
              <a:t>Brain Tumor MRI Classification | 12</a:t>
            </a:r>
          </a:p>
        </p:txBody>
      </p:sp>
    </p:spTree>
    <p:extLst>
      <p:ext uri="{BB962C8B-B14F-4D97-AF65-F5344CB8AC3E}">
        <p14:creationId xmlns:p14="http://schemas.microsoft.com/office/powerpoint/2010/main" val="2114942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2026-07-21T06:48:33.8330000Z</dcterms:created>
  <dcterms:modified xsi:type="dcterms:W3CDTF">2026-07-21T06:48:33.8340000Z</dcterms:modified>
</coreProperties>
</file>